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39000" y="6127750"/>
            <a:ext cx="660400" cy="73025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5683250"/>
            <a:ext cx="660400" cy="117475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20200" y="5270500"/>
            <a:ext cx="660400" cy="15875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0800" y="4889500"/>
            <a:ext cx="660400" cy="19685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01400" y="4572000"/>
            <a:ext cx="660400" cy="2286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1428750"/>
            <a:ext cx="4476750" cy="10072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500" y="2857500"/>
            <a:ext cx="952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Compensação de Impostos</a:t>
            </a:r>
          </a:p>
          <a:p>
            <a:pPr algn="ctr">
              <a:lnSpc>
                <a:spcPct val="112000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com Créditos de ICMS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76750"/>
            <a:ext cx="7620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875">
                <a:solidFill>
                  <a:srgbClr val="D9DAE8"/>
                </a:solidFill>
                <a:latin typeface="Montserrat"/>
              </a:rPr>
              <a:t>Aproveitamento de créditos acumulados de ICMS para redução</a:t>
            </a:r>
          </a:p>
          <a:p>
            <a:pPr algn="ctr">
              <a:lnSpc>
                <a:spcPct val="150000"/>
              </a:lnSpc>
            </a:pPr>
            <a:r>
              <a:rPr sz="1875">
                <a:solidFill>
                  <a:srgbClr val="D9DAE8"/>
                </a:solidFill>
                <a:latin typeface="Montserrat"/>
              </a:rPr>
              <a:t>do imposto a recolher — método, execução e comprovação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7150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25" spc="300">
                <a:solidFill>
                  <a:srgbClr val="9A9BB5"/>
                </a:solidFill>
                <a:latin typeface="Montserrat"/>
              </a:rPr>
              <a:t>DOCUMENTO TÉCNICO · COMPLIANCE FISCAL TRIBUTÁRIO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39000" y="5350510"/>
            <a:ext cx="482600" cy="55499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62900" y="5012690"/>
            <a:ext cx="482600" cy="89281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4699000"/>
            <a:ext cx="482600" cy="1206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0700" y="4409440"/>
            <a:ext cx="482600" cy="149606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34600" y="4168140"/>
            <a:ext cx="482600" cy="173736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APRESENTAÇÃO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O propósito deste material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Este documento esclarece, dentro da nossa especialidade em Direito Tributário, o mecanismo de compensação do ICMS por meio de créditos acumulados.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O objetivo é demonstrar, com base técnica e documental, a economia fiscal que as empresas obtêm com a correta utilização desses créditos perante o fisco estadual.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914400"/>
            <a:ext cx="96202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SUMÁRIO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Índice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247900"/>
            <a:ext cx="914400" cy="381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571750"/>
            <a:ext cx="96202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2850">
                <a:solidFill>
                  <a:srgbClr val="010860"/>
                </a:solidFill>
                <a:latin typeface="Montserrat"/>
              </a:rPr>
              <a:t>01   </a:t>
            </a:r>
            <a:r>
              <a:rPr b="1" sz="2550">
                <a:solidFill>
                  <a:srgbClr val="141414"/>
                </a:solidFill>
                <a:latin typeface="Montserrat"/>
              </a:rPr>
              <a:t>Origem do Crédito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238500"/>
            <a:ext cx="9620250" cy="9525"/>
          </a:xfrm>
          <a:prstGeom prst="rect">
            <a:avLst/>
          </a:prstGeom>
          <a:solidFill>
            <a:srgbClr val="E9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96202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2850">
                <a:solidFill>
                  <a:srgbClr val="010860"/>
                </a:solidFill>
                <a:latin typeface="Montserrat"/>
              </a:rPr>
              <a:t>02   </a:t>
            </a:r>
            <a:r>
              <a:rPr b="1" sz="2550">
                <a:solidFill>
                  <a:srgbClr val="141414"/>
                </a:solidFill>
                <a:latin typeface="Montserrat"/>
              </a:rPr>
              <a:t>Modus Operandi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019549"/>
            <a:ext cx="9620250" cy="9525"/>
          </a:xfrm>
          <a:prstGeom prst="rect">
            <a:avLst/>
          </a:prstGeom>
          <a:solidFill>
            <a:srgbClr val="E9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133849"/>
            <a:ext cx="96202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2850">
                <a:solidFill>
                  <a:srgbClr val="010860"/>
                </a:solidFill>
                <a:latin typeface="Montserrat"/>
              </a:rPr>
              <a:t>03   </a:t>
            </a:r>
            <a:r>
              <a:rPr b="1" sz="2550">
                <a:solidFill>
                  <a:srgbClr val="141414"/>
                </a:solidFill>
                <a:latin typeface="Montserrat"/>
              </a:rPr>
              <a:t>GIA — com e sem lançamento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800600"/>
            <a:ext cx="9620250" cy="9525"/>
          </a:xfrm>
          <a:prstGeom prst="rect">
            <a:avLst/>
          </a:prstGeom>
          <a:solidFill>
            <a:srgbClr val="E9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914900"/>
            <a:ext cx="96202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2850">
                <a:solidFill>
                  <a:srgbClr val="010860"/>
                </a:solidFill>
                <a:latin typeface="Montserrat"/>
              </a:rPr>
              <a:t>04   </a:t>
            </a:r>
            <a:r>
              <a:rPr b="1" sz="2550">
                <a:solidFill>
                  <a:srgbClr val="141414"/>
                </a:solidFill>
                <a:latin typeface="Montserrat"/>
              </a:rPr>
              <a:t>SPED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581650"/>
            <a:ext cx="9620250" cy="9525"/>
          </a:xfrm>
          <a:prstGeom prst="rect">
            <a:avLst/>
          </a:prstGeom>
          <a:solidFill>
            <a:srgbClr val="E9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695950"/>
            <a:ext cx="96202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2850">
                <a:solidFill>
                  <a:srgbClr val="010860"/>
                </a:solidFill>
                <a:latin typeface="Montserrat"/>
              </a:rPr>
              <a:t>05   </a:t>
            </a:r>
            <a:r>
              <a:rPr b="1" sz="2550">
                <a:solidFill>
                  <a:srgbClr val="141414"/>
                </a:solidFill>
                <a:latin typeface="Montserrat"/>
              </a:rPr>
              <a:t>Recibo de Transmissão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6362700"/>
            <a:ext cx="9620250" cy="9525"/>
          </a:xfrm>
          <a:prstGeom prst="rect">
            <a:avLst/>
          </a:prstGeom>
          <a:solidFill>
            <a:srgbClr val="E9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0" y="2857500"/>
            <a:ext cx="5334000" cy="438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30000">
                <a:solidFill>
                  <a:srgbClr val="ECEDF4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01 · ORIGEM DO CRÉDITO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De onde vêm os créditos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Os créditos de ICMS decorrem de saldos acumulados por empresas incorporadas por multinacionais que, ao levantarem seus ativos, absorveram os respectivos créditos — originados das operações de compra, venda, prestação de serviços e importação.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Esses créditos encontram-se alocados em conta eletrônica junto à </a:t>
            </a:r>
            <a:r>
              <a:rPr b="1" sz="2025">
                <a:solidFill>
                  <a:srgbClr val="010860"/>
                </a:solidFill>
                <a:latin typeface="Inter"/>
              </a:rPr>
              <a:t>SEFAZ/SP</a:t>
            </a:r>
            <a:r>
              <a:rPr b="0" sz="2025">
                <a:solidFill>
                  <a:srgbClr val="141414"/>
                </a:solidFill>
                <a:latin typeface="Inter"/>
              </a:rPr>
              <a:t>, devidamente habilitados e escriturados digitalmente, passíveis de transferência para compensação do saldo de ICMS das empresas destinatárias.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05750" y="2331720"/>
            <a:ext cx="431800" cy="52578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53450" y="2011680"/>
            <a:ext cx="431800" cy="84582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01150" y="1714500"/>
            <a:ext cx="431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48850" y="1440180"/>
            <a:ext cx="431800" cy="141732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96550" y="1211580"/>
            <a:ext cx="431800" cy="164592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05000"/>
            <a:ext cx="9906000" cy="342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b="1" sz="11250">
                <a:solidFill>
                  <a:srgbClr val="33397E"/>
                </a:solidFill>
                <a:latin typeface="Montserrat"/>
              </a:rPr>
              <a:t>02</a:t>
            </a:r>
          </a:p>
          <a:p>
            <a:pPr>
              <a:spcBef>
                <a:spcPts val="0"/>
              </a:spcBef>
            </a:pPr>
            <a:r>
              <a:rPr b="1" sz="5700">
                <a:solidFill>
                  <a:srgbClr val="FFFFFF"/>
                </a:solidFill>
                <a:latin typeface="Montserrat"/>
              </a:rPr>
              <a:t>Modus Operandi</a:t>
            </a:r>
          </a:p>
          <a:p>
            <a:pPr>
              <a:spcBef>
                <a:spcPts val="1800"/>
              </a:spcBef>
            </a:pPr>
            <a:r>
              <a:rPr sz="1875" spc="100">
                <a:solidFill>
                  <a:srgbClr val="C6C7DB"/>
                </a:solidFill>
                <a:latin typeface="Montserrat"/>
              </a:rPr>
              <a:t>LANÇAMENTOS REALIZADOS EM 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0" y="2857500"/>
            <a:ext cx="5334000" cy="438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30000">
                <a:solidFill>
                  <a:srgbClr val="ECEDF4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02 · MODUS OPERANDI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Procedimento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Os lançamentos são realizados na GIA, no campo </a:t>
            </a:r>
            <a:r>
              <a:rPr b="1" sz="2025">
                <a:solidFill>
                  <a:srgbClr val="010860"/>
                </a:solidFill>
                <a:latin typeface="Inter"/>
              </a:rPr>
              <a:t>“Outros Créditos”</a:t>
            </a:r>
            <a:r>
              <a:rPr b="0" sz="2025">
                <a:solidFill>
                  <a:srgbClr val="141414"/>
                </a:solidFill>
                <a:latin typeface="Inter"/>
              </a:rPr>
              <a:t>, e no SPED, com fundamento no </a:t>
            </a:r>
            <a:r>
              <a:rPr b="1" sz="2025">
                <a:solidFill>
                  <a:srgbClr val="010860"/>
                </a:solidFill>
                <a:latin typeface="Inter"/>
              </a:rPr>
              <a:t>artigo 99 do RICMS</a:t>
            </a:r>
            <a:r>
              <a:rPr b="0" sz="2025">
                <a:solidFill>
                  <a:srgbClr val="141414"/>
                </a:solidFill>
                <a:latin typeface="Inter"/>
              </a:rPr>
              <a:t>, correspondendo à utilização dos créditos alocados na conta da empresa.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Em seguida, procede-se à escrituração do crédito e à devida compensação, homologada junto à SEFAZ/SP.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428750"/>
            <a:ext cx="400050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03 · GIA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Sem lançamento de crédito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500">
                <a:solidFill>
                  <a:srgbClr val="3C3C3C"/>
                </a:solidFill>
                <a:latin typeface="Inter"/>
              </a:rPr>
              <a:t>Apuração do ICMS antes do lançamento do crédito: o imposto a recolher permanece integral.</a:t>
            </a:r>
          </a:p>
        </p:txBody>
      </p:sp>
      <p:pic>
        <p:nvPicPr>
          <p:cNvPr id="4" name="Picture 3" descr="gia_sem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459" y="857250"/>
            <a:ext cx="3631181" cy="5143500"/>
          </a:xfrm>
          <a:prstGeom prst="rect">
            <a:avLst/>
          </a:prstGeom>
          <a:ln w="9525">
            <a:solidFill>
              <a:srgbClr val="EEEEE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428750"/>
            <a:ext cx="400050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03 · GIA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Com lançamento de crédito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500">
                <a:solidFill>
                  <a:srgbClr val="3C3C3C"/>
                </a:solidFill>
                <a:latin typeface="Inter"/>
              </a:rPr>
              <a:t>Após o lançamento em “Outros Créditos”, o imposto a recolher é reduzido de forma significativa.</a:t>
            </a:r>
          </a:p>
        </p:txBody>
      </p:sp>
      <p:pic>
        <p:nvPicPr>
          <p:cNvPr id="4" name="Picture 3" descr="gia_com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106" y="857250"/>
            <a:ext cx="3637886" cy="5143500"/>
          </a:xfrm>
          <a:prstGeom prst="rect">
            <a:avLst/>
          </a:prstGeom>
          <a:ln w="9525">
            <a:solidFill>
              <a:srgbClr val="EEEEE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0" y="2857500"/>
            <a:ext cx="5334000" cy="438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30000">
                <a:solidFill>
                  <a:srgbClr val="ECEDF4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03 · GIA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Transmissão da GIA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A transmissão da GIA com o lançamento do crédito é conduzida integralmente por nós.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Solicitamos o arquivo da GIA em formato </a:t>
            </a:r>
            <a:r>
              <a:rPr b="1" sz="2025">
                <a:solidFill>
                  <a:srgbClr val="010860"/>
                </a:solidFill>
                <a:latin typeface="Inter"/>
              </a:rPr>
              <a:t>PRF</a:t>
            </a:r>
            <a:r>
              <a:rPr b="0" sz="2025">
                <a:solidFill>
                  <a:srgbClr val="141414"/>
                </a:solidFill>
                <a:latin typeface="Inter"/>
              </a:rPr>
              <a:t>, executamos o lançamento e o devolvemos já transmitido.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838200"/>
            <a:ext cx="962025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04 · SPED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Sem e com lançamento de crédito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038349"/>
            <a:ext cx="914400" cy="381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d_comp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74976"/>
            <a:ext cx="9906000" cy="3051048"/>
          </a:xfrm>
          <a:prstGeom prst="rect">
            <a:avLst/>
          </a:prstGeom>
          <a:ln w="9525">
            <a:solidFill>
              <a:srgbClr val="EEEE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524000" y="5715000"/>
            <a:ext cx="914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>
                <a:solidFill>
                  <a:srgbClr val="3C3C3C"/>
                </a:solidFill>
                <a:latin typeface="Inter"/>
              </a:rPr>
              <a:t>Comparativo do registro fiscal: à esquerda, sem o crédito; à direita, com o ajuste a crédito aplicado.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0" y="2857500"/>
            <a:ext cx="5334000" cy="438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30000">
                <a:solidFill>
                  <a:srgbClr val="ECEDF4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04 · SPED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Constatação pela cessionária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A cessionária pode constatar o lançamento do crédito, com as devidas informações do RICMS, por meio da conta eletrônica junto à SEFAZ/SP.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Isso assegura que o crédito foi </a:t>
            </a:r>
            <a:r>
              <a:rPr b="1" sz="2025">
                <a:solidFill>
                  <a:srgbClr val="010860"/>
                </a:solidFill>
                <a:latin typeface="Inter"/>
              </a:rPr>
              <a:t>efetivamente lançado e aceito</a:t>
            </a:r>
            <a:r>
              <a:rPr b="0" sz="2025">
                <a:solidFill>
                  <a:srgbClr val="141414"/>
                </a:solidFill>
                <a:latin typeface="Inter"/>
              </a:rPr>
              <a:t> na compensação.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0" y="2857500"/>
            <a:ext cx="5334000" cy="438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30000">
                <a:solidFill>
                  <a:srgbClr val="ECEDF4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04 · SPED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Habilitação e compensação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No SPED, efetuamos a habilitação do crédito e a efetiva compensação por meio do RICMS na conta fiscal da cessionária.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É possível constatar que o abatimento foi realizado na fonte, ficando registrado todo o procedimento na </a:t>
            </a:r>
            <a:r>
              <a:rPr b="1" sz="2025">
                <a:solidFill>
                  <a:srgbClr val="010860"/>
                </a:solidFill>
                <a:latin typeface="Inter"/>
              </a:rPr>
              <a:t>GIA, no SPED e na Conta Fiscal</a:t>
            </a:r>
            <a:r>
              <a:rPr b="0" sz="2025">
                <a:solidFill>
                  <a:srgbClr val="141414"/>
                </a:solidFill>
                <a:latin typeface="Inter"/>
              </a:rPr>
              <a:t>. O saldo remanescente é recolhido por meio de DARE.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428750"/>
            <a:ext cx="400050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04 · SPED · DEMONSTRATIVO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Recibo de entrega — EFD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500">
                <a:solidFill>
                  <a:srgbClr val="3C3C3C"/>
                </a:solidFill>
                <a:latin typeface="Inter"/>
              </a:rPr>
              <a:t>Recibo de entrega da Escrituração Fiscal Digital (SPED) — página 1.</a:t>
            </a:r>
          </a:p>
        </p:txBody>
      </p:sp>
      <p:pic>
        <p:nvPicPr>
          <p:cNvPr id="4" name="Picture 3" descr="sped_demo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019" y="857250"/>
            <a:ext cx="3622061" cy="5143500"/>
          </a:xfrm>
          <a:prstGeom prst="rect">
            <a:avLst/>
          </a:prstGeom>
          <a:ln w="9525">
            <a:solidFill>
              <a:srgbClr val="EEEEE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428750"/>
            <a:ext cx="400050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04 · SPED · DEMONSTRATIVO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Recibo de entrega — EFD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500">
                <a:solidFill>
                  <a:srgbClr val="3C3C3C"/>
                </a:solidFill>
                <a:latin typeface="Inter"/>
              </a:rPr>
              <a:t>Recibo de entrega da Escrituração Fiscal Digital (SPED) — página 2.</a:t>
            </a:r>
          </a:p>
        </p:txBody>
      </p:sp>
      <p:pic>
        <p:nvPicPr>
          <p:cNvPr id="4" name="Picture 3" descr="sped_demo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341" y="857250"/>
            <a:ext cx="3613416" cy="5143500"/>
          </a:xfrm>
          <a:prstGeom prst="rect">
            <a:avLst/>
          </a:prstGeom>
          <a:ln w="9525">
            <a:solidFill>
              <a:srgbClr val="EEEEE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0" y="2857500"/>
            <a:ext cx="5334000" cy="438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30000">
                <a:solidFill>
                  <a:srgbClr val="ECEDF4"/>
                </a:solidFill>
                <a:latin typeface="Montserrat"/>
              </a:rPr>
              <a:t>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04 · SPED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Percentual de utilização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Conforme a documentação e o caso apresentados, o percentual de utilização do crédito para compensação situa-se entre </a:t>
            </a:r>
            <a:r>
              <a:rPr b="1" sz="2025">
                <a:solidFill>
                  <a:srgbClr val="010860"/>
                </a:solidFill>
                <a:latin typeface="Inter"/>
              </a:rPr>
              <a:t>80% e 90%</a:t>
            </a:r>
            <a:r>
              <a:rPr b="0" sz="2025">
                <a:solidFill>
                  <a:srgbClr val="141414"/>
                </a:solidFill>
                <a:latin typeface="Inter"/>
              </a:rPr>
              <a:t> do valor apurado; o remanescente é recolhido pela empresa por meio de DARE.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O pagamento referente ao crédito utilizado ocorre após a constatação da conta fiscal zerada, conforme o exemplo a seguir.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838200"/>
            <a:ext cx="962025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05 · RECIBO DE TRANSMISSÃO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Conta fiscal por mês de referência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038349"/>
            <a:ext cx="914400" cy="381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a_fiscal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81250"/>
            <a:ext cx="7772400" cy="3238500"/>
          </a:xfrm>
          <a:prstGeom prst="rect">
            <a:avLst/>
          </a:prstGeom>
          <a:ln w="9525">
            <a:solidFill>
              <a:srgbClr val="EEEE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524000" y="5715000"/>
            <a:ext cx="914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>
                <a:solidFill>
                  <a:srgbClr val="3C3C3C"/>
                </a:solidFill>
                <a:latin typeface="Inter"/>
              </a:rPr>
              <a:t>Conta fiscal por mês de referência: guias quitadas e saldo do período zerado.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39000" y="5350510"/>
            <a:ext cx="482600" cy="55499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62900" y="5012690"/>
            <a:ext cx="482600" cy="89281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4699000"/>
            <a:ext cx="482600" cy="1206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0700" y="4409440"/>
            <a:ext cx="482600" cy="149606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34600" y="4168140"/>
            <a:ext cx="482600" cy="173736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CONCLUSÃO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Economia e responsabilidade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A economia obtida com o deságio na aquisição do crédito corresponde a aproximadamente </a:t>
            </a:r>
            <a:r>
              <a:rPr b="1" sz="2025">
                <a:solidFill>
                  <a:srgbClr val="010860"/>
                </a:solidFill>
                <a:latin typeface="Inter"/>
              </a:rPr>
              <a:t>30% ao mês</a:t>
            </a:r>
            <a:r>
              <a:rPr b="0" sz="2025">
                <a:solidFill>
                  <a:srgbClr val="141414"/>
                </a:solidFill>
                <a:latin typeface="Inter"/>
              </a:rPr>
              <a:t>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Nosso contrato prevê a responsabilidade do escritório pelos </a:t>
            </a:r>
            <a:r>
              <a:rPr b="1" sz="2025">
                <a:solidFill>
                  <a:srgbClr val="010860"/>
                </a:solidFill>
                <a:latin typeface="Inter"/>
              </a:rPr>
              <a:t>5 anos</a:t>
            </a:r>
            <a:r>
              <a:rPr b="0" sz="2025">
                <a:solidFill>
                  <a:srgbClr val="141414"/>
                </a:solidFill>
                <a:latin typeface="Inter"/>
              </a:rPr>
              <a:t> seguintes a cada compensação: qualquer questão a ser retificada junto à SEFAZ permanece sob a ótica e a responsabilidade do nosso compliance.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39000" y="5350510"/>
            <a:ext cx="482600" cy="55499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62900" y="5012690"/>
            <a:ext cx="482600" cy="89281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4699000"/>
            <a:ext cx="482600" cy="12065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0700" y="4409440"/>
            <a:ext cx="482600" cy="149606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34600" y="4168140"/>
            <a:ext cx="482600" cy="173736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28750"/>
            <a:ext cx="9620250" cy="400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425" spc="250">
                <a:solidFill>
                  <a:srgbClr val="010860"/>
                </a:solidFill>
                <a:latin typeface="Montserrat"/>
              </a:rPr>
              <a:t>CONCLUSÃO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b="1" sz="3600">
                <a:solidFill>
                  <a:srgbClr val="010860"/>
                </a:solidFill>
                <a:latin typeface="Montserrat"/>
              </a:rPr>
              <a:t>Modelo de honorários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b="1" sz="1500">
                <a:solidFill>
                  <a:srgbClr val="010860"/>
                </a:solidFill>
                <a:latin typeface="Montserrat"/>
              </a:rPr>
              <a:t>―――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Importante frisar que </a:t>
            </a:r>
            <a:r>
              <a:rPr b="1" sz="2025">
                <a:solidFill>
                  <a:srgbClr val="010860"/>
                </a:solidFill>
                <a:latin typeface="Inter"/>
              </a:rPr>
              <a:t>não cobramos honorários</a:t>
            </a:r>
            <a:r>
              <a:rPr b="0" sz="2025">
                <a:solidFill>
                  <a:srgbClr val="141414"/>
                </a:solidFill>
                <a:latin typeface="Inter"/>
              </a:rPr>
              <a:t> do cliente para a execução do trabalho.</a:t>
            </a:r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b="0" sz="2025">
                <a:solidFill>
                  <a:srgbClr val="141414"/>
                </a:solidFill>
                <a:latin typeface="Inter"/>
              </a:rPr>
              <a:t>As despesas do procedimento são arcadas pelo detentor dos créditos.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75">
                <a:solidFill>
                  <a:srgbClr val="8A8A8A"/>
                </a:solidFill>
                <a:latin typeface="Inter"/>
              </a:rPr>
              <a:t>@meulucroativo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534150"/>
            <a:ext cx="990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75">
                <a:solidFill>
                  <a:srgbClr val="8A8A8A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39000" y="6127750"/>
            <a:ext cx="660400" cy="73025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5683250"/>
            <a:ext cx="660400" cy="117475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20200" y="5270500"/>
            <a:ext cx="660400" cy="15875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0800" y="4889500"/>
            <a:ext cx="660400" cy="19685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01400" y="4572000"/>
            <a:ext cx="660400" cy="2286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0250" y="1714500"/>
            <a:ext cx="8191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875">
                <a:solidFill>
                  <a:srgbClr val="E0E1EE"/>
                </a:solidFill>
                <a:latin typeface="Inter"/>
              </a:rPr>
              <a:t>Nosso objetivo é convidá-lo(a) para uma reunião, a fim de</a:t>
            </a:r>
          </a:p>
          <a:p>
            <a:pPr algn="ctr">
              <a:lnSpc>
                <a:spcPct val="150000"/>
              </a:lnSpc>
            </a:pPr>
            <a:r>
              <a:rPr sz="1875">
                <a:solidFill>
                  <a:srgbClr val="E0E1EE"/>
                </a:solidFill>
                <a:latin typeface="Inter"/>
              </a:rPr>
              <a:t>detalharmos as vantagens desta proposta.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3048000"/>
            <a:ext cx="8191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3750">
                <a:solidFill>
                  <a:srgbClr val="FFFFFF"/>
                </a:solidFill>
                <a:latin typeface="Montserrat"/>
              </a:rPr>
              <a:t>Agradecemos pela atenção</a:t>
            </a:r>
          </a:p>
        </p:txBody>
      </p:sp>
      <p:pic>
        <p:nvPicPr>
          <p:cNvPr id="10" name="Picture 9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4190999"/>
            <a:ext cx="3619500" cy="814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00250" y="5334000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spc="200">
                <a:solidFill>
                  <a:srgbClr val="9A9BB5"/>
                </a:solidFill>
                <a:latin typeface="Montserrat"/>
              </a:rPr>
              <a:t>@MEULUCROATIVO · COMPLIANCE FISCAL TRIBUTÁRIO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