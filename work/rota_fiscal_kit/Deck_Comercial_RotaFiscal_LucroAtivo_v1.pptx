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85800"/>
            <a:ext cx="2926080" cy="6569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87451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9A227"/>
                </a:solidFill>
                <a:latin typeface="Montserrat"/>
              </a:rPr>
              <a:t>SOLUÇÃO INTERNACIONAL · ROTA FISCAL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Internacionalização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ontserrat"/>
              </a:rPr>
              <a:t>tributária e patrimonial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9692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8CDF0"/>
                </a:solidFill>
                <a:latin typeface="Inter"/>
              </a:rPr>
              <a:t>O caminho estruturado para o empresário brasileiro diversificar jurisdição, proteger patrimônio e reduzir a carga tributária — de forma lícita, documentada e com condução jurídica integral da Lucro 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Lucro Ativo</a:t>
            </a:r>
            <a:r>
              <a:rPr sz="1300" b="0">
                <a:solidFill>
                  <a:srgbClr val="C8CDF0"/>
                </a:solidFill>
                <a:latin typeface="Inter"/>
              </a:rPr>
              <a:t> · Compliance Fiscal Tributário          Apresentação Comercial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669281"/>
            <a:ext cx="329184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12680" y="5303520"/>
            <a:ext cx="329184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0" y="4846320"/>
            <a:ext cx="329184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18520" y="4297680"/>
            <a:ext cx="329184" cy="2011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01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O CENÁRIO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O custo de operar apenas no Brasil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O empresário brasileiro carrega uma das maiores cargas tributárias e um dos ambientes fiscais mais complexos do mundo — e a transição da Reforma Tributária (EC 132/2023) adiciona anos de convivência entre dois sistemas.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54864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57150" cy="17830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0604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Concentração de 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5193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Patrimônio, faturamento e residência fiscal em uma única jurisdição significam exposição total a mudanças de regra, contencioso e instabilidade — sem alternativa preparada.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514600"/>
            <a:ext cx="54864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514600"/>
            <a:ext cx="57150" cy="17830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60604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Carga sobre o 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953512"/>
            <a:ext cx="5193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Entre tributos sobre consumo, renda e folha, a parcela do resultado entregue ao fisco brasileiro compromete a capacidade de reinvestimento e a competitividade internacional.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54864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57150" cy="17830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2628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Complexidade crescente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873752"/>
            <a:ext cx="5193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A transição da Reforma (2026–2033) impõe dois sistemas em paralelo — CBS/IBS convivendo com o modelo atual — elevando o custo de conformidade justamente para quem produz.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434840"/>
            <a:ext cx="54864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434840"/>
            <a:ext cx="57150" cy="1783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52628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A resposta racional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873752"/>
            <a:ext cx="5193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Internacionalizar não é fugir: é planejamento tributário lícito — escolher, dentro da lei, a jurisdição e a estrutura mais eficientes para cada parte do negócio e do patrimônio.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02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A SOLUÇÃO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Rota Fiscal: internacionalização com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Um programa estruturado que leva o empresário do diagnóstico à operação internacional ativa — com advocacia tributária na condução e estrutura própria da Lucro Ativo no Paraguai.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560320"/>
            <a:ext cx="10808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Sob medida: </a:t>
            </a:r>
            <a:r>
              <a:rPr sz="1400" b="0">
                <a:solidFill>
                  <a:srgbClr val="1A1F36"/>
                </a:solidFill>
                <a:latin typeface="Inter"/>
              </a:rPr>
              <a:t>a rota é definida pelo perfil — onde está a receita, o patrimônio, a família e o plano de vida do empresário. Não existe pacote único.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73552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200400"/>
            <a:ext cx="10808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Condução integral: </a:t>
            </a:r>
            <a:r>
              <a:rPr sz="1400" b="0">
                <a:solidFill>
                  <a:srgbClr val="1A1F36"/>
                </a:solidFill>
                <a:latin typeface="Inter"/>
              </a:rPr>
              <a:t>diagnóstico, desenho da estrutura, documentação, atos no exterior e manutenção — um único responsável do início ao fim.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13632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840480"/>
            <a:ext cx="10808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Compliance nos dois lados: </a:t>
            </a:r>
            <a:r>
              <a:rPr sz="1400" b="0">
                <a:solidFill>
                  <a:srgbClr val="1A1F36"/>
                </a:solidFill>
                <a:latin typeface="Inter"/>
              </a:rPr>
              <a:t>cada passo é formalizado tanto perante o fisco brasileiro quanto perante a jurisdição de destino. Nada de atalhos.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53711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480559"/>
            <a:ext cx="108082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Presença local: </a:t>
            </a:r>
            <a:r>
              <a:rPr sz="1400" b="0">
                <a:solidFill>
                  <a:srgbClr val="1A1F36"/>
                </a:solidFill>
                <a:latin typeface="Inter"/>
              </a:rPr>
              <a:t>operação própria em Assunção (EAS Paraguay), com equipe e parceiros credenciados no destino — não terceirizamos o que é crítico.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40680"/>
            <a:ext cx="11064240" cy="658368"/>
          </a:xfrm>
          <a:prstGeom prst="rect">
            <a:avLst/>
          </a:prstGeom>
          <a:solidFill>
            <a:srgbClr val="FDF9EE"/>
          </a:solidFill>
          <a:ln w="9525">
            <a:solidFill>
              <a:srgbClr val="EC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13832"/>
            <a:ext cx="107899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B5510"/>
                </a:solidFill>
                <a:latin typeface="Inter"/>
              </a:rPr>
              <a:t>Posicionamento: </a:t>
            </a:r>
            <a:r>
              <a:rPr sz="1150" b="0">
                <a:solidFill>
                  <a:srgbClr val="6B5510"/>
                </a:solidFill>
                <a:latin typeface="Inter"/>
              </a:rPr>
              <a:t>a Rota Fiscal é planejamento tributário internacional lícito. A Lucro Ativo não realiza — nem orienta — ocultação de patrimônio ou omissão de declarações.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03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AS TRÊS ROTAS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Três caminhos, um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O diagnóstico define qual rota — ou combinação de rotas — serve ao seu caso.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70332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3703320" cy="8686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048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9A227"/>
                </a:solidFill>
                <a:latin typeface="Montserrat"/>
              </a:rPr>
              <a:t>ROTA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70048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Montserrat"/>
              </a:rPr>
              <a:t>Paraguai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1012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F36"/>
                </a:solidFill>
                <a:latin typeface="Inter"/>
              </a:rPr>
              <a:t>Residência fiscal e estrutura empresarial no país vizinho, com tributação radicalmente mais simples.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370832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Residência e RUC no Paraguai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773168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18304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Regime maquila para produzir e exportar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175504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Mercosul: logística e mercado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23560"/>
            <a:ext cx="3703320" cy="68580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705856"/>
            <a:ext cx="3392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Para quem busca </a:t>
            </a:r>
            <a:r>
              <a:rPr sz="1100" b="1">
                <a:solidFill>
                  <a:srgbClr val="010860"/>
                </a:solidFill>
                <a:latin typeface="Inter"/>
              </a:rPr>
              <a:t>mudança de base fiscal</a:t>
            </a:r>
            <a:r>
              <a:rPr sz="1100" b="0">
                <a:solidFill>
                  <a:srgbClr val="5A6072"/>
                </a:solidFill>
                <a:latin typeface="Inter"/>
              </a:rPr>
              <a:t> ou produção no Mercosul.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331720"/>
            <a:ext cx="370332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331720"/>
            <a:ext cx="3703320" cy="8686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24048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9A227"/>
                </a:solidFill>
                <a:latin typeface="Montserrat"/>
              </a:rPr>
              <a:t>ROTA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2670048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Montserrat"/>
              </a:rPr>
              <a:t>LLC · EUA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331012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F36"/>
                </a:solidFill>
                <a:latin typeface="Inter"/>
              </a:rPr>
              <a:t>Veículo empresarial norte-americano para receitas internacionais e organização patrimonial em moeda forte.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9432" y="4370832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315968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Faturamento internacional em dólar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9432" y="4773168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4718304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Acesso ao sistema financeiro dos EUA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9432" y="5175504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5120640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Declarada e conforme no Brasil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623560"/>
            <a:ext cx="3703320" cy="68580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5705856"/>
            <a:ext cx="3392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Para quem tem </a:t>
            </a:r>
            <a:r>
              <a:rPr sz="1100" b="1">
                <a:solidFill>
                  <a:srgbClr val="010860"/>
                </a:solidFill>
                <a:latin typeface="Inter"/>
              </a:rPr>
              <a:t>receita internacional</a:t>
            </a:r>
            <a:r>
              <a:rPr sz="1100" b="0">
                <a:solidFill>
                  <a:srgbClr val="5A6072"/>
                </a:solidFill>
                <a:latin typeface="Inter"/>
              </a:rPr>
              <a:t> ou busca dolarização estruturada.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331720"/>
            <a:ext cx="370332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2331720"/>
            <a:ext cx="3703320" cy="8686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24048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9A227"/>
                </a:solidFill>
                <a:latin typeface="Montserrat"/>
              </a:rPr>
              <a:t>ROTA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2670048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Montserrat"/>
              </a:rPr>
              <a:t>REINTEGRA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310128"/>
            <a:ext cx="33924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F36"/>
                </a:solidFill>
                <a:latin typeface="Inter"/>
              </a:rPr>
              <a:t>Recuperação do resíduo tributário embutido na cadeia de produtos exportados — sem sair do Brasil.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85632" y="4370832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315968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Crédito sobre a receita de exportação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85632" y="4773168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718304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Procedimento administrativo previsto em lei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85632" y="5175504"/>
            <a:ext cx="9144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5120640"/>
            <a:ext cx="3200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Complementa as demais rotas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5623560"/>
            <a:ext cx="3703320" cy="68580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5705856"/>
            <a:ext cx="339242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Para </a:t>
            </a:r>
            <a:r>
              <a:rPr sz="1100" b="1">
                <a:solidFill>
                  <a:srgbClr val="010860"/>
                </a:solidFill>
                <a:latin typeface="Inter"/>
              </a:rPr>
              <a:t>indústrias exportadoras</a:t>
            </a:r>
            <a:r>
              <a:rPr sz="1100" b="0">
                <a:solidFill>
                  <a:srgbClr val="5A6072"/>
                </a:solidFill>
                <a:latin typeface="Inter"/>
              </a:rPr>
              <a:t> que deixam dinheiro na mesa.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04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ROTA PARAGUAI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Paraguai: simplicidade tributária ao lado de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Um dos sistemas tributários mais enxutos das Américas, a poucas horas do Brasil e dentro do Mercosul.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657600" cy="12344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54096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Imposto de renda empresarial (IRE)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377440"/>
            <a:ext cx="3657600" cy="12344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48716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54096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IVA — imposto sobre valor agregado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377440"/>
            <a:ext cx="3657600" cy="12344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48716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9A227"/>
                </a:solidFill>
                <a:latin typeface="Montserrat"/>
              </a:rPr>
              <a:t>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054096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Tributo único do regime maquila sobre o valor agregado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486400" cy="160020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7150" cy="16002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93192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Residência fiscal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79392"/>
            <a:ext cx="51937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Processo formal de residência, cédula e registro tributário (RUC), com planejamento da saída fiscal brasileira quando aplicável — sem improviso migratório.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5486400" cy="160020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840480"/>
            <a:ext cx="57150" cy="16002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93192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Regime maquila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279392"/>
            <a:ext cx="51937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Produzir no Paraguai e exportar — inclusive para o Brasil — com tributo único de 1% sobre o valor agregado local (Lei 1.064/97), energia barata e mão de obra competitiva.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23560"/>
            <a:ext cx="11064240" cy="658368"/>
          </a:xfrm>
          <a:prstGeom prst="rect">
            <a:avLst/>
          </a:prstGeom>
          <a:solidFill>
            <a:srgbClr val="FDF9EE"/>
          </a:solidFill>
          <a:ln w="9525">
            <a:solidFill>
              <a:srgbClr val="EC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96712"/>
            <a:ext cx="107899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B5510"/>
                </a:solidFill>
                <a:latin typeface="Inter"/>
              </a:rPr>
              <a:t>PARÂMETRO A VALIDAR: </a:t>
            </a:r>
            <a:r>
              <a:rPr sz="1150" b="0">
                <a:solidFill>
                  <a:srgbClr val="6B5510"/>
                </a:solidFill>
                <a:latin typeface="Inter"/>
              </a:rPr>
              <a:t>alíquotas, requisitos migratórios e enquadramento no regime maquila são confirmados caso a caso pelo jurídico antes de qualquer proposta.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05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ROTA LLC · EUA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LLC: sua operação internacional em dólar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Um veículo empresarial nos Estados Unidos para faturar clientes no exterior, acessar o sistema financeiro americano e organizar patrimônio em moeda forte — declarado e em conformidade no Brasil.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7150" cy="173736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4495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Receitas de exportação de serviços, marketplaces e clientes internacionais entram direto na estrutura americana, com conta bancária nos EUA e recebimento em dólar.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60604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606040"/>
            <a:ext cx="57150" cy="173736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69748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Proteção e organização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04495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Separação entre o patrimônio pessoal e a operação, sucessão facilitada e diversificação cambial — o caixa deixa de depender de uma única moeda.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57150" cy="1737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61772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Conformidade brasileira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96519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A estrutura é declarada no Brasil (DIRPF/CBE) e desenhada à luz das regras de tributação de investimentos no exterior (Lei 14.754/2023). Eficiência sim; omissão jamais.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52628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26280"/>
            <a:ext cx="57150" cy="173736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61772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Quando combinar rotas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96519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A LLC convive com a Rota Paraguai: cada peça cuida de uma função — receita internacional, base fiscal e produção — no mesmo desenho.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06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ROTA REINTEGRA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REINTEGRA: o crédito que a exportadora esquece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O regime devolve ao exportador parte do resíduo tributário acumulado na cadeia produtiva — um direito previsto em lei (Lei 13.043/2014) que muitas indústrias simplesmente não exercem.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3405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Quem alcança: </a:t>
            </a:r>
            <a:r>
              <a:rPr sz="1400" b="0">
                <a:solidFill>
                  <a:srgbClr val="1A1F36"/>
                </a:solidFill>
                <a:latin typeface="Inter"/>
              </a:rPr>
              <a:t>indústrias que exportam bens manufaturados elegíveis — diretamente ou via trading.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0273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Como funciona: </a:t>
            </a:r>
            <a:r>
              <a:rPr sz="1400" b="0">
                <a:solidFill>
                  <a:srgbClr val="1A1F36"/>
                </a:solidFill>
                <a:latin typeface="Inter"/>
              </a:rPr>
              <a:t>apuração de crédito sobre a receita de exportação, aproveitável para compensar tributos federais ou pedir ressarcimento — procedimento administrativo, sem litígio.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7141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Efeito caixa: </a:t>
            </a:r>
            <a:r>
              <a:rPr sz="1400" b="0">
                <a:solidFill>
                  <a:srgbClr val="1A1F36"/>
                </a:solidFill>
                <a:latin typeface="Inter"/>
              </a:rPr>
              <a:t>recupera margem sem mudar a operação — e financia, muitas vezes, o próprio projeto de internacionalização.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DF9EE"/>
          </a:solidFill>
          <a:ln w="9525">
            <a:solidFill>
              <a:srgbClr val="EC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2"/>
            <a:ext cx="1078992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6B5510"/>
                </a:solidFill>
                <a:latin typeface="Inter"/>
              </a:rPr>
              <a:t>PARÂMETRO A VALIDAR: </a:t>
            </a:r>
            <a:r>
              <a:rPr sz="1150" b="0">
                <a:solidFill>
                  <a:srgbClr val="6B5510"/>
                </a:solidFill>
                <a:latin typeface="Inter"/>
              </a:rPr>
              <a:t>o percentual do REINTEGRA é fixado por decreto e varia no tempo; a alíquota aplicável e o alcance retroativo são confirmados pelo jurídico antes de qualquer projeção ao cliente.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07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COMO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A jornada em seis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Método testado na prática — cada etapa com responsável, prazo e evidência documental.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36576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3657600" cy="5715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10860"/>
                </a:solidFill>
                <a:latin typeface="Montserrat"/>
              </a:rPr>
              <a:t>Diagnóstico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34015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072"/>
                </a:solidFill>
                <a:latin typeface="Inter"/>
              </a:rPr>
              <a:t>Raio-X tributário e patrimonial: situação fiscal na Receita, DIRPF, estrutura societária e objetivos do empresário.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23160"/>
            <a:ext cx="36576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423160"/>
            <a:ext cx="3657600" cy="5715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49631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9864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10860"/>
                </a:solidFill>
                <a:latin typeface="Montserrat"/>
              </a:rPr>
              <a:t>Desenho da rota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27832"/>
            <a:ext cx="34015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072"/>
                </a:solidFill>
                <a:latin typeface="Inter"/>
              </a:rPr>
              <a:t>Definição da rota (ou combinação) e da modalidade de residência/estrutura, com parecer e cronograma.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423160"/>
            <a:ext cx="36576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423160"/>
            <a:ext cx="3657600" cy="5715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49631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Montserra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9864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10860"/>
                </a:solidFill>
                <a:latin typeface="Montserrat"/>
              </a:rPr>
              <a:t>Documentação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227832"/>
            <a:ext cx="34015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072"/>
                </a:solidFill>
                <a:latin typeface="Inter"/>
              </a:rPr>
              <a:t>Certidões, autenticações, apostilamento de Haia e tradução juramentada — o dossiê completo antes de qualquer ato.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36576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3657600" cy="5715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6227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6460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10860"/>
                </a:solidFill>
                <a:latin typeface="Montserrat"/>
              </a:rPr>
              <a:t>Planejamento da saída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93792"/>
            <a:ext cx="34015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072"/>
                </a:solidFill>
                <a:latin typeface="Inter"/>
              </a:rPr>
              <a:t>Quando aplicável: regularização de DIRPF e Declaração de Saída Definitiva (DSDP), para não haver bitributação nem pendência.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389120"/>
            <a:ext cx="3657600" cy="1783080"/>
          </a:xfrm>
          <a:prstGeom prst="rect">
            <a:avLst/>
          </a:prstGeom>
          <a:solidFill>
            <a:srgbClr val="FDF9EE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389120"/>
            <a:ext cx="3657600" cy="571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46227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Montserra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86460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10860"/>
                </a:solidFill>
                <a:latin typeface="Montserrat"/>
              </a:rPr>
              <a:t>Missão presencial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193792"/>
            <a:ext cx="34015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072"/>
                </a:solidFill>
                <a:latin typeface="Inter"/>
              </a:rPr>
              <a:t>Agenda organizada no destino — migrações, registros e abertura da estrutura — com acompanhamento local da equipe.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389120"/>
            <a:ext cx="3657600" cy="178308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4389120"/>
            <a:ext cx="3657600" cy="5715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462272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9A227"/>
                </a:solidFill>
                <a:latin typeface="Montserrat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86460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10860"/>
                </a:solidFill>
                <a:latin typeface="Montserrat"/>
              </a:rPr>
              <a:t>Ativação e manutenção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193792"/>
            <a:ext cx="34015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072"/>
                </a:solidFill>
                <a:latin typeface="Inter"/>
              </a:rPr>
              <a:t>RUC/registros ativos, contabilidade local e calendário de obrigações — a estrutura viva, não um carimbo no passaporte.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08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SEGURANÇA JURÍDICA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Tudo dentro da lei — nos dois países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A diferença entre planejamento e problema é a formalização. A Rota Fiscal existe para fazer do jeito certo.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7150" cy="173736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Saída fiscal formalizada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4495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Quem muda de base fiscal faz a Declaração de Saída Definitiva e encerra as obrigações corretamente — sem virar residente "fantasma" em dois países.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60604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606040"/>
            <a:ext cx="57150" cy="173736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69748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Estruturas declaradas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04495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Participações no exterior são declaradas no Brasil (DIRPF/CBE) enquanto houver residência fiscal brasileira. Nenhuma estrutura nossa depende de omissão.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57150" cy="173736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61772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Advocacia na condução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96519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Cada caso tem análise jurídica individual — advocacia tributária com 15 anos de prática, não um curso ou um despachante.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526280"/>
            <a:ext cx="5486400" cy="173736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26280"/>
            <a:ext cx="57150" cy="1737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617720"/>
            <a:ext cx="5193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O que não fazemos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965192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1A1F36"/>
                </a:solidFill>
                <a:latin typeface="Inter"/>
              </a:rPr>
              <a:t>Não prometemos "imposto zero", não operamos ocultação de ativos e não executamos rota sem diagnóstico. Se não servir ao seu caso, dizemos.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09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POR QUE A LUCRO 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Estrutura própria, não intermediação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A maioria vende consultoria à distância. A Lucro Ativo opera no destino.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79192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06040"/>
            <a:ext cx="1080820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Presença em Assunção: </a:t>
            </a:r>
            <a:r>
              <a:rPr sz="1400" b="0">
                <a:solidFill>
                  <a:srgbClr val="1A1F36"/>
                </a:solidFill>
                <a:latin typeface="Inter"/>
              </a:rPr>
              <a:t>estrutura própria no Paraguai (EAS Paraguay), com equipe local e rede credenciada — despachos, registros e contabilidade sem depender de terceiros desconhecidos.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47872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474720"/>
            <a:ext cx="1080820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Base tributária brasileira: </a:t>
            </a:r>
            <a:r>
              <a:rPr sz="1400" b="0">
                <a:solidFill>
                  <a:srgbClr val="1A1F36"/>
                </a:solidFill>
                <a:latin typeface="Inter"/>
              </a:rPr>
              <a:t>quem desenha a rota entende profundamente o lado de cá — Receita Federal, DIRPF, saída fiscal e as regras de tributação internacional do Brasil.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16552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343400"/>
            <a:ext cx="1080820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Ecossistema completo: </a:t>
            </a:r>
            <a:r>
              <a:rPr sz="1400" b="0">
                <a:solidFill>
                  <a:srgbClr val="1A1F36"/>
                </a:solidFill>
                <a:latin typeface="Inter"/>
              </a:rPr>
              <a:t>do diagnóstico à manutenção anual, o mesmo time responde — com CRM, documentação e trilha de auditoria de cada etapa.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85231"/>
            <a:ext cx="109728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212079"/>
            <a:ext cx="1080820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10860"/>
                </a:solidFill>
                <a:latin typeface="Inter"/>
              </a:rPr>
              <a:t>Portfólio integrado: </a:t>
            </a:r>
            <a:r>
              <a:rPr sz="1400" b="0">
                <a:solidFill>
                  <a:srgbClr val="1A1F36"/>
                </a:solidFill>
                <a:latin typeface="Inter"/>
              </a:rPr>
              <a:t>a Rota Fiscal conversa com as demais soluções da casa (créditos tributários, compensação de ICMS, transação federal) — o empresário resolve o Brasil enquanto constrói o internacional.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9A227"/>
                </a:solidFill>
                <a:latin typeface="Montserrat"/>
              </a:rPr>
              <a:t>10  </a:t>
            </a:r>
            <a:r>
              <a:rPr sz="1300" b="1">
                <a:solidFill>
                  <a:srgbClr val="010860"/>
                </a:solidFill>
                <a:latin typeface="Montserrat"/>
              </a:rPr>
              <a:t>PARA QUEM 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7863840" cy="3048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658368"/>
            <a:ext cx="320040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10860"/>
                </a:solidFill>
                <a:latin typeface="Montserrat"/>
              </a:rPr>
              <a:t>@meulucroativo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072"/>
                </a:solidFill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10860"/>
                </a:solidFill>
                <a:latin typeface="Montserrat"/>
              </a:rPr>
              <a:t>O perfil que mais aproveita a Rota Fiscal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A6072"/>
                </a:solidFill>
                <a:latin typeface="Inter"/>
              </a:rPr>
              <a:t>Se você marca dois ou mais pontos abaixo, o diagnóstico tende a se pagar.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3657600" cy="16916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57150" cy="169164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06040"/>
            <a:ext cx="3364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Empresário de 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33649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Lucro consistente e sensação de que o fisco é o sócio majoritário — sem plano B de jurisdição.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514600"/>
            <a:ext cx="3657600" cy="16916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514600"/>
            <a:ext cx="57150" cy="169164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606040"/>
            <a:ext cx="3364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Exportador / receita externa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953512"/>
            <a:ext cx="33649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Indústria que exporta ou prestador com clientes internacionais recebendo em estrutura brasileira.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657600" cy="16916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514600"/>
            <a:ext cx="57150" cy="169164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606040"/>
            <a:ext cx="3364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Patrimônio a proteger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953512"/>
            <a:ext cx="33649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Ativos relevantes concentrados no Brasil e sucessão ainda não resolvida.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3657600" cy="16916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57150" cy="169164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480560"/>
            <a:ext cx="3364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Produção intensiva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28032"/>
            <a:ext cx="33649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Operação industrial pressionada por custo tributário, energético e de folha — candidata natural à maquila.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4389120"/>
            <a:ext cx="3657600" cy="16916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4389120"/>
            <a:ext cx="57150" cy="169164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4480560"/>
            <a:ext cx="3364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Mobilidade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828032"/>
            <a:ext cx="33649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Disposição de cumprir os requisitos formais de residência e presença que a rota escolhida exigir.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389120"/>
            <a:ext cx="3657600" cy="1691640"/>
          </a:xfrm>
          <a:prstGeom prst="rect">
            <a:avLst/>
          </a:prstGeom>
          <a:solidFill>
            <a:srgbClr val="F7F8FC"/>
          </a:solidFill>
          <a:ln w="9525">
            <a:solidFill>
              <a:srgbClr val="E3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4389120"/>
            <a:ext cx="57150" cy="1691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4480560"/>
            <a:ext cx="33649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10860"/>
                </a:solidFill>
                <a:latin typeface="Montserrat"/>
              </a:rPr>
              <a:t>Visão de longo prazo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828032"/>
            <a:ext cx="33649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1A1F36"/>
                </a:solidFill>
                <a:latin typeface="Inter"/>
              </a:rPr>
              <a:t>Entende que internacionalizar é projeto estruturado — não atalho de fim de ano fiscal.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77240"/>
            <a:ext cx="2377440" cy="533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828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9A227"/>
                </a:solidFill>
                <a:latin typeface="Montserrat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Montserrat"/>
              </a:rPr>
              <a:t>Comece pelo 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9509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8CDF0"/>
                </a:solidFill>
                <a:latin typeface="Inter"/>
              </a:rPr>
              <a:t>Uma reunião de diagnóstico define se existe rota para o seu caso, qual é ela e o que muda no seu resultado. Sem compromisso de execução — e com a resposta honesta, inclusive quando a resposta for "ainda não".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A227"/>
                </a:solidFill>
                <a:latin typeface="Inter"/>
              </a:rPr>
              <a:t>1. </a:t>
            </a:r>
            <a:r>
              <a:rPr sz="1500" b="0">
                <a:solidFill>
                  <a:srgbClr val="FFFFFF"/>
                </a:solidFill>
                <a:latin typeface="Inter"/>
              </a:rPr>
              <a:t>Reunião de diagnóstico      </a:t>
            </a:r>
            <a:r>
              <a:rPr sz="1500" b="1">
                <a:solidFill>
                  <a:srgbClr val="C9A227"/>
                </a:solidFill>
                <a:latin typeface="Inter"/>
              </a:rPr>
              <a:t>2. </a:t>
            </a:r>
            <a:r>
              <a:rPr sz="1500" b="0">
                <a:solidFill>
                  <a:srgbClr val="FFFFFF"/>
                </a:solidFill>
                <a:latin typeface="Inter"/>
              </a:rPr>
              <a:t>Parecer e desenho da rota      </a:t>
            </a:r>
            <a:r>
              <a:rPr sz="1500" b="1">
                <a:solidFill>
                  <a:srgbClr val="C9A227"/>
                </a:solidFill>
                <a:latin typeface="Inter"/>
              </a:rPr>
              <a:t>3. </a:t>
            </a:r>
            <a:r>
              <a:rPr sz="1500" b="0">
                <a:solidFill>
                  <a:srgbClr val="FFFFFF"/>
                </a:solidFill>
                <a:latin typeface="Inter"/>
              </a:rPr>
              <a:t>Execução acompanhada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Lucro Ativo</a:t>
            </a:r>
            <a:r>
              <a:rPr sz="1300" b="0">
                <a:solidFill>
                  <a:srgbClr val="C8CDF0"/>
                </a:solidFill>
                <a:latin typeface="Inter"/>
              </a:rPr>
              <a:t> · Compliance Fiscal Tributário · @meulucroativo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5669281"/>
            <a:ext cx="329184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2680" y="5303520"/>
            <a:ext cx="329184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4846320"/>
            <a:ext cx="329184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18520" y="4297680"/>
            <a:ext cx="329184" cy="2011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